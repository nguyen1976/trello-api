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"/>
            <a:ext cx="73152" cy="7315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74320"/>
            <a:ext cx="73152" cy="7315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274320"/>
            <a:ext cx="73152" cy="7315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822960"/>
            <a:ext cx="73152" cy="7315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822960"/>
            <a:ext cx="73152" cy="7315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822960"/>
            <a:ext cx="73152" cy="7315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371600"/>
            <a:ext cx="73152" cy="7315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371600"/>
            <a:ext cx="73152" cy="7315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6B7A9A"/>
                </a:solidFill>
              </a:rPr>
              <a:t>ĐẠI HỌC PHENIKAA — TRƯỜNG CÔNG NGHỆ THÔNG TIN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0515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KIỂM THỬ PHẦN MỀM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FF"/>
                </a:solidFill>
              </a:rPr>
              <a:t>TRELLO</a:t>
            </a: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Môn: </a:t>
            </a:r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Đánh Giá và Kiểm Thử Phần Mềm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Lớp: </a:t>
            </a:r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CSE703010-1-3-25(COUR01.LT4)  |  Khoá K17 (2023–2027)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GV hướng dẫn: 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Thầy Trương Đức Phương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Nguyễn Hà Nguyên (23010310)  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Hoàng Lê Đức Huy (23010298)  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Ngô Đặng Nhật Dũng (23010329)  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Nguyễn Đức Minh (23010302)  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Nguyễn Duy Hiệu (23010363)</a:t>
            </a:r>
            <a:endParaRPr lang="en-US" sz="10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0"/>
            <a:ext cx="914400" cy="9144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Hà Nội, tháng 06 năm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MỤC LỤC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371600" cy="3657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713232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7132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1115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1521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</a:rPr>
              <a:t>Giới thiệu &amp; Phạm vi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4114800" cy="713232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54864" cy="71323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D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0482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</a:rPr>
              <a:t>Phân tích &amp; Xây dựng hệ thống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798064"/>
            <a:ext cx="4114800" cy="713232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98064"/>
            <a:ext cx="54864" cy="7132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" y="2907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944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</a:rPr>
              <a:t>Kiểm thử hộp đen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694176"/>
            <a:ext cx="4114800" cy="713232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694176"/>
            <a:ext cx="54864" cy="71323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38039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D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</a:rPr>
              <a:t>Kiểm thử hộp trắng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4114800" cy="713232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05840"/>
            <a:ext cx="54864" cy="713232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74336" y="11155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4FFF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11521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</a:rPr>
              <a:t>Kiểm thử tự động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46320" y="1901952"/>
            <a:ext cx="4114800" cy="713232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901952"/>
            <a:ext cx="54864" cy="7132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74336" y="2011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86400" y="204825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</a:rPr>
              <a:t>Kiểm thử nâng cao (Fuzz &amp; Mutation)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46320" y="2798064"/>
            <a:ext cx="4114800" cy="713232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798064"/>
            <a:ext cx="54864" cy="7132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74336" y="29077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29443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0E0"/>
                </a:solidFill>
              </a:rPr>
              <a:t>Đánh giá &amp; Nhận xét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GIỚI THIỆU &amp; MỤC TIÊU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37490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Hệ thống Trello Clone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Backend: </a:t>
            </a:r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Node.js / Express + MongoDB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Frontend: </a:t>
            </a:r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React 18 + Vite + Redux Toolkit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Auth: </a:t>
            </a:r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JWT (httpOnly cookie)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Validation: </a:t>
            </a:r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Joi (BE) + React Hook Form (FE)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Drag &amp; Drop: </a:t>
            </a:r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dnd-kit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977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Upload: </a:t>
            </a:r>
            <a:pPr indent="0" marL="0">
              <a:buNone/>
            </a:pPr>
            <a:r>
              <a:rPr lang="en-US" sz="1200" dirty="0">
                <a:solidFill>
                  <a:srgbClr val="C8D0E0"/>
                </a:solidFill>
              </a:rPr>
              <a:t>Multer + Cloudinary</a:t>
            </a:r>
            <a:endParaRPr lang="en-US" sz="12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00584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663440" y="914400"/>
            <a:ext cx="4206240" cy="37490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914400"/>
            <a:ext cx="4206240" cy="5486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D"/>
                </a:solidFill>
              </a:rPr>
              <a:t>Mục Tiêu Đề Tài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00600" y="1481328"/>
            <a:ext cx="3931920" cy="34747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92040" y="14996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13 Use Cases  </a:t>
            </a:r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UC01–UC13 đầy đủ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800600" y="1920240"/>
            <a:ext cx="3931920" cy="34747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92040" y="1938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83 Test Cases  </a:t>
            </a:r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Integration API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00600" y="2359152"/>
            <a:ext cx="3931920" cy="34747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9204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31 Test Cases  </a:t>
            </a:r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RTL Component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00600" y="2798064"/>
            <a:ext cx="3931920" cy="34747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892040" y="28163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13 E2E Scenarios  </a:t>
            </a:r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Selenium WebDriver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800600" y="3236976"/>
            <a:ext cx="3931920" cy="34747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892040" y="3255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100% Coverage  </a:t>
            </a:r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utils/middleware/validation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00600" y="3675888"/>
            <a:ext cx="3931920" cy="34747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892040" y="36941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97.92%  </a:t>
            </a:r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Mutation Score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800600" y="4114800"/>
            <a:ext cx="3931920" cy="347472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892040" y="41330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9 Fuzz Properties  </a:t>
            </a:r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300–1000 numRuns/prop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KIẾN TRÚC HỆ THỐNG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937760" cy="6858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280160" cy="685800"/>
          </a:xfrm>
          <a:prstGeom prst="rect">
            <a:avLst/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960120"/>
            <a:ext cx="45720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</a:rPr>
              <a:t>BROWSER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10642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React 18 + Vite + Redux Toolkit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937760" cy="6858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83080"/>
            <a:ext cx="1280160" cy="685800"/>
          </a:xfrm>
          <a:prstGeom prst="rect">
            <a:avLst/>
          </a:prstGeom>
          <a:solidFill>
            <a:srgbClr val="00FF9D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783080"/>
            <a:ext cx="45720" cy="68580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FF9D"/>
                </a:solidFill>
              </a:rPr>
              <a:t>API GATEWAY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19293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Express.js + JWT Middleware + Joi Validation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4937760" cy="6858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606040"/>
            <a:ext cx="1280160" cy="685800"/>
          </a:xfrm>
          <a:prstGeom prst="rect">
            <a:avLst/>
          </a:prstGeom>
          <a:solidFill>
            <a:srgbClr val="B44F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606040"/>
            <a:ext cx="45720" cy="68580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44FFF"/>
                </a:solidFill>
              </a:rPr>
              <a:t>SERVICE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27523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userService · boardService · columnService · cardService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4937760" cy="6858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29000"/>
            <a:ext cx="1280160" cy="685800"/>
          </a:xfrm>
          <a:prstGeom prst="rect">
            <a:avLst/>
          </a:prstGeom>
          <a:solidFill>
            <a:srgbClr val="FFD700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429000"/>
            <a:ext cx="45720" cy="6858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D700"/>
                </a:solidFill>
              </a:rPr>
              <a:t>DATABASE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45920" y="35753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0E0"/>
                </a:solidFill>
              </a:rPr>
              <a:t>MongoDB (Mongoose ODM) — Collections: users, boards, columns, cards, invitations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468880" y="1673352"/>
            <a:ext cx="54864" cy="137160"/>
          </a:xfrm>
          <a:prstGeom prst="rect">
            <a:avLst/>
          </a:prstGeom>
          <a:solidFill>
            <a:srgbClr val="6B7A9A"/>
          </a:solidFill>
          <a:ln/>
        </p:spPr>
      </p:sp>
      <p:sp>
        <p:nvSpPr>
          <p:cNvPr id="26" name="Shape 24"/>
          <p:cNvSpPr/>
          <p:nvPr/>
        </p:nvSpPr>
        <p:spPr>
          <a:xfrm>
            <a:off x="2468880" y="2496312"/>
            <a:ext cx="54864" cy="137160"/>
          </a:xfrm>
          <a:prstGeom prst="rect">
            <a:avLst/>
          </a:prstGeom>
          <a:solidFill>
            <a:srgbClr val="6B7A9A"/>
          </a:solidFill>
          <a:ln/>
        </p:spPr>
      </p:sp>
      <p:sp>
        <p:nvSpPr>
          <p:cNvPr id="27" name="Shape 25"/>
          <p:cNvSpPr/>
          <p:nvPr/>
        </p:nvSpPr>
        <p:spPr>
          <a:xfrm>
            <a:off x="2468880" y="3319272"/>
            <a:ext cx="54864" cy="137160"/>
          </a:xfrm>
          <a:prstGeom prst="rect">
            <a:avLst/>
          </a:prstGeom>
          <a:solidFill>
            <a:srgbClr val="6B7A9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0" y="960120"/>
            <a:ext cx="3383280" cy="406908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960120"/>
            <a:ext cx="3383280" cy="4572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1024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4FFF"/>
                </a:solidFill>
              </a:rPr>
              <a:t>13 Use Cases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77840" y="1417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UC01 — Đăng ký tài khoản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77840" y="18653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UC02 — Xác minh tài khoản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77840" y="2313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UC03 — Đăng nhập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27614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UC04 — Đăng xuất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77840" y="32095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UC05 — Xem danh sách board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77840" y="3657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UC06 — Tạo board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77840" y="410565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UC07 — Xem chi tiết board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223760" y="14173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UC08 — Tạo/sửa/xóa column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23760" y="186537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UC09 — Tạo card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0" y="2313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UC10 — Cập nhật card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23760" y="27614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UC11 — Di chuyển card (Drag)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23760" y="32095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UC12 — Mời thành viên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23760" y="3657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UC13 — Cập nhật hồ sơ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KIỂM THỬ HỘP ĐEN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Nguyên tắc &amp; Kỹ thuật thiết kế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37033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188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Phân Lớp Tương Đương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719072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Email: đúng/sai định dạng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2286000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3042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Password: 8–256 ký tự, có chữ+số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" y="2852928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8712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Board title: 3–50 ký tự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11480" y="3419856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4381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ObjectId: 24 ký tự hex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11480" y="3986784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0050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File: jpg/jpeg/png ≤ 10MB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0" y="1097280"/>
            <a:ext cx="2743200" cy="37033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00FF9D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70432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49040" y="1188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Phân Tích Giá Trị Biên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337560" y="1719072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5" name="Text 21"/>
          <p:cNvSpPr/>
          <p:nvPr/>
        </p:nvSpPr>
        <p:spPr>
          <a:xfrm>
            <a:off x="3383280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Title: 2 (✗), 3 (✓), 50 (✓), 51 (✗)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337560" y="2286000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7" name="Text 23"/>
          <p:cNvSpPr/>
          <p:nvPr/>
        </p:nvSpPr>
        <p:spPr>
          <a:xfrm>
            <a:off x="3383280" y="23042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Password: 7 (✗), 8 (✓), 256 (✓)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337560" y="2852928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Text 25"/>
          <p:cNvSpPr/>
          <p:nvPr/>
        </p:nvSpPr>
        <p:spPr>
          <a:xfrm>
            <a:off x="3383280" y="28712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File size: 10MB (✓), 10MB+1 (✗)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3337560" y="3419856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7"/>
          <p:cNvSpPr/>
          <p:nvPr/>
        </p:nvSpPr>
        <p:spPr>
          <a:xfrm>
            <a:off x="3383280" y="34381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ObjectId: 24-hex (✓), 23/25 (✗)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3337560" y="3986784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3" name="Text 29"/>
          <p:cNvSpPr/>
          <p:nvPr/>
        </p:nvSpPr>
        <p:spPr>
          <a:xfrm>
            <a:off x="3383280" y="40050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Description: 2 (✗), 3 (✓)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126480" y="1097280"/>
            <a:ext cx="2743200" cy="37033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B44FFF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70432"/>
            <a:ext cx="411480" cy="41148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675120" y="1188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FF"/>
                </a:solidFill>
              </a:rPr>
              <a:t>3 Tầng Kiểm Thử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263640" y="1719072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9" name="Text 34"/>
          <p:cNvSpPr/>
          <p:nvPr/>
        </p:nvSpPr>
        <p:spPr>
          <a:xfrm>
            <a:off x="6309360" y="173736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F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API Integration (Supertest)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263640" y="2286000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1" name="Text 36"/>
          <p:cNvSpPr/>
          <p:nvPr/>
        </p:nvSpPr>
        <p:spPr>
          <a:xfrm>
            <a:off x="6309360" y="230428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F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UI Component (React Testing Library)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263640" y="2852928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3" name="Text 38"/>
          <p:cNvSpPr/>
          <p:nvPr/>
        </p:nvSpPr>
        <p:spPr>
          <a:xfrm>
            <a:off x="6309360" y="287121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F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E2E Browser (Selenium WebDriver 4)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6263640" y="3419856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5" name="Text 40"/>
          <p:cNvSpPr/>
          <p:nvPr/>
        </p:nvSpPr>
        <p:spPr>
          <a:xfrm>
            <a:off x="6309360" y="3438144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F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Kiểm thử thủ công (18 kịch bản)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6263640" y="3986784"/>
            <a:ext cx="246888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7" name="Text 42"/>
          <p:cNvSpPr/>
          <p:nvPr/>
        </p:nvSpPr>
        <p:spPr>
          <a:xfrm>
            <a:off x="6309360" y="40050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44FFF"/>
                </a:solidFill>
              </a:rPr>
              <a:t>•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Passive security checks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KIỂM THỬ API INTEGRATION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20240" cy="457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96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9D"/>
                </a:solidFill>
              </a:rPr>
              <a:t>83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Test Cases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1920240" cy="10058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192024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896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2316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File 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1920240" cy="10058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192024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896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57200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1920240" cy="10058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1920240" cy="4572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896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4FFF"/>
                </a:solidFill>
              </a:rPr>
              <a:t>162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2084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Tests Total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965960"/>
            <a:ext cx="859536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993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Nhóm Kiểm Thử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1993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Số TC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Mã TC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359152"/>
            <a:ext cx="8595360" cy="32004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2359152"/>
            <a:ext cx="36576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39572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Đăng ký / Xác minh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239572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5+5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239572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TC-BB-REG / VER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2697480"/>
            <a:ext cx="36576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73405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Đăng nhập / Đăng xuất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273405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5+1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273405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TC-BB-LOGIN / LOGOUT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035808"/>
            <a:ext cx="8595360" cy="32004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035808"/>
            <a:ext cx="36576" cy="32004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07238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JWT &amp; Refresh Token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0" y="307238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5+3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307238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TC-BB-JWT / REFRESH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374136"/>
            <a:ext cx="85953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3374136"/>
            <a:ext cx="36576" cy="32004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4107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Board CRUD + BVA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89120" y="341071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16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341071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TC-BB-BOARDS-*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712464"/>
            <a:ext cx="8595360" cy="32004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3712464"/>
            <a:ext cx="36576" cy="32004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374904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Column CRUD + BVA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389120" y="374904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FFF"/>
                </a:solidFill>
              </a:rPr>
              <a:t>10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94960" y="37490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TC-BB-COL-*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4320" y="4050792"/>
            <a:ext cx="85953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1" name="Shape 49"/>
          <p:cNvSpPr/>
          <p:nvPr/>
        </p:nvSpPr>
        <p:spPr>
          <a:xfrm>
            <a:off x="274320" y="4050792"/>
            <a:ext cx="36576" cy="32004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408736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Card CRUD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389120" y="408736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FFF"/>
                </a:solidFill>
              </a:rPr>
              <a:t>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94960" y="408736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TC-BB-CARD-*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389120"/>
            <a:ext cx="8595360" cy="32004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56" name="Shape 54"/>
          <p:cNvSpPr/>
          <p:nvPr/>
        </p:nvSpPr>
        <p:spPr>
          <a:xfrm>
            <a:off x="274320" y="4389120"/>
            <a:ext cx="36576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442569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Invitation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389120" y="442569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394960" y="442569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TC-BB-INV-*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4727448"/>
            <a:ext cx="8595360" cy="320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1" name="Shape 59"/>
          <p:cNvSpPr/>
          <p:nvPr/>
        </p:nvSpPr>
        <p:spPr>
          <a:xfrm>
            <a:off x="274320" y="4727448"/>
            <a:ext cx="36576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476402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Passive Security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389120" y="47640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7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394960" y="476402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TC-SEC-PASSIVE-*</a:t>
            </a:r>
            <a:endParaRPr lang="en-US" sz="1000" dirty="0"/>
          </a:p>
        </p:txBody>
      </p:sp>
      <p:pic>
        <p:nvPicPr>
          <p:cNvPr id="6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2286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COMPONENT TEST &amp; E2E SELENIUM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114800" cy="54864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41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FFF"/>
                </a:solidFill>
              </a:rPr>
              <a:t>React Testing Library (RTL)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31 Tests — 100% PASS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384048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LoginForm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  6 TC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Form render, submit, navigate, API call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384048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Board Page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  9 TC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Loading spinner, fetchBoard, moveCard APIs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84048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Card Component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  6 TC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Click modal, placeholder, title, drag handle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384048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</a:rPr>
              <a:t>Validators (FE)</a:t>
            </a:r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</a:rPr>
              <a:t>  10 TC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Email, password, board title, file size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868680"/>
            <a:ext cx="42062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9418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Selenium WebDriver 4 (E2E)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13 Scenarios — All PASS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664208"/>
            <a:ext cx="3977640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6824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</a:rPr>
              <a:t>✓ </a:t>
            </a:r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TC-E2E-01/02  </a:t>
            </a:r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Login form + sai mật khẩu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993392"/>
            <a:ext cx="3977640" cy="292608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0116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</a:rPr>
              <a:t>✓ </a:t>
            </a:r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TC-E2E-03  </a:t>
            </a:r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Register form hiển thị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322576"/>
            <a:ext cx="3977640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3408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</a:rPr>
              <a:t>✓ </a:t>
            </a:r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TC-E2E-04  </a:t>
            </a:r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404 Not Found page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651760"/>
            <a:ext cx="3977640" cy="292608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6700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</a:rPr>
              <a:t>✓ </a:t>
            </a:r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TC-E2E-05/06  </a:t>
            </a:r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Protected routes → redirect login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80944"/>
            <a:ext cx="3977640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9992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</a:rPr>
              <a:t>✓ </a:t>
            </a:r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TC-E2E-07  </a:t>
            </a:r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Verification invalid → 404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310128"/>
            <a:ext cx="3977640" cy="292608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3284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</a:rPr>
              <a:t>✓ </a:t>
            </a:r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TC-E2E-08/09  </a:t>
            </a:r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Login hợp lệ → Boards list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639312"/>
            <a:ext cx="3977640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657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</a:rPr>
              <a:t>✓ </a:t>
            </a:r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TC-E2E-10/11  </a:t>
            </a:r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Settings Account &amp; Security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968496"/>
            <a:ext cx="3977640" cy="292608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9867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</a:rPr>
              <a:t>✓ </a:t>
            </a:r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TC-E2E-12  </a:t>
            </a:r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Board detail page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297680"/>
            <a:ext cx="3977640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43159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9D"/>
                </a:solidFill>
              </a:rPr>
              <a:t>✓ </a:t>
            </a:r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TC-E2E-FULL-01  </a:t>
            </a:r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Full happy path journey (E2E toàn trình)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KIỂM THỬ HỘP TRẮNG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0" cy="39319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14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Coverage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937760" cy="32004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25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Stmts%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1325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Branch%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664208"/>
            <a:ext cx="4937760" cy="3017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664208"/>
            <a:ext cx="36576" cy="3017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7099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utils/authUtils.js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34640" y="17556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15" name="Shape 13"/>
          <p:cNvSpPr/>
          <p:nvPr/>
        </p:nvSpPr>
        <p:spPr>
          <a:xfrm>
            <a:off x="2834640" y="1755648"/>
            <a:ext cx="1005840" cy="12801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6916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100%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17556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18" name="Shape 16"/>
          <p:cNvSpPr/>
          <p:nvPr/>
        </p:nvSpPr>
        <p:spPr>
          <a:xfrm>
            <a:off x="4023360" y="1755648"/>
            <a:ext cx="100584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16916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100%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007108"/>
            <a:ext cx="4937760" cy="30175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007108"/>
            <a:ext cx="36576" cy="30175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0528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utils/boardUtils.js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34640" y="20985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24" name="Shape 22"/>
          <p:cNvSpPr/>
          <p:nvPr/>
        </p:nvSpPr>
        <p:spPr>
          <a:xfrm>
            <a:off x="2834640" y="2098548"/>
            <a:ext cx="1005840" cy="12801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20345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D"/>
                </a:solidFill>
              </a:rPr>
              <a:t>100%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0" y="20985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27" name="Shape 25"/>
          <p:cNvSpPr/>
          <p:nvPr/>
        </p:nvSpPr>
        <p:spPr>
          <a:xfrm>
            <a:off x="4023360" y="2098548"/>
            <a:ext cx="100584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20345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100%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350008"/>
            <a:ext cx="4937760" cy="3017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2350008"/>
            <a:ext cx="36576" cy="301752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23957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utils/cardUtils.js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834640" y="24414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3" name="Shape 31"/>
          <p:cNvSpPr/>
          <p:nvPr/>
        </p:nvSpPr>
        <p:spPr>
          <a:xfrm>
            <a:off x="2834640" y="2441448"/>
            <a:ext cx="1005840" cy="12801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834640" y="23774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4FFF"/>
                </a:solidFill>
              </a:rPr>
              <a:t>100%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23360" y="24414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6" name="Shape 34"/>
          <p:cNvSpPr/>
          <p:nvPr/>
        </p:nvSpPr>
        <p:spPr>
          <a:xfrm>
            <a:off x="4023360" y="2441448"/>
            <a:ext cx="100584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7" name="Text 35"/>
          <p:cNvSpPr/>
          <p:nvPr/>
        </p:nvSpPr>
        <p:spPr>
          <a:xfrm>
            <a:off x="4023360" y="23774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100%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2692908"/>
            <a:ext cx="4937760" cy="30175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9" name="Shape 37"/>
          <p:cNvSpPr/>
          <p:nvPr/>
        </p:nvSpPr>
        <p:spPr>
          <a:xfrm>
            <a:off x="320040" y="2692908"/>
            <a:ext cx="36576" cy="3017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0" name="Text 38"/>
          <p:cNvSpPr/>
          <p:nvPr/>
        </p:nvSpPr>
        <p:spPr>
          <a:xfrm>
            <a:off x="411480" y="27386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middlewares/authMiddleware.js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834640" y="27843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42" name="Shape 40"/>
          <p:cNvSpPr/>
          <p:nvPr/>
        </p:nvSpPr>
        <p:spPr>
          <a:xfrm>
            <a:off x="2834640" y="2784348"/>
            <a:ext cx="1005840" cy="12801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3" name="Text 41"/>
          <p:cNvSpPr/>
          <p:nvPr/>
        </p:nvSpPr>
        <p:spPr>
          <a:xfrm>
            <a:off x="2834640" y="27203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100%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023360" y="27843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45" name="Shape 43"/>
          <p:cNvSpPr/>
          <p:nvPr/>
        </p:nvSpPr>
        <p:spPr>
          <a:xfrm>
            <a:off x="4023360" y="2784348"/>
            <a:ext cx="100584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6" name="Text 44"/>
          <p:cNvSpPr/>
          <p:nvPr/>
        </p:nvSpPr>
        <p:spPr>
          <a:xfrm>
            <a:off x="4023360" y="27203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100%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035808"/>
            <a:ext cx="4937760" cy="3017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" y="3035808"/>
            <a:ext cx="36576" cy="30175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30815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validations/userValidation.js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834640" y="31272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51" name="Shape 49"/>
          <p:cNvSpPr/>
          <p:nvPr/>
        </p:nvSpPr>
        <p:spPr>
          <a:xfrm>
            <a:off x="2834640" y="3127248"/>
            <a:ext cx="1005840" cy="12801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52" name="Text 50"/>
          <p:cNvSpPr/>
          <p:nvPr/>
        </p:nvSpPr>
        <p:spPr>
          <a:xfrm>
            <a:off x="2834640" y="3063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D"/>
                </a:solidFill>
              </a:rPr>
              <a:t>100%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023360" y="31272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54" name="Shape 52"/>
          <p:cNvSpPr/>
          <p:nvPr/>
        </p:nvSpPr>
        <p:spPr>
          <a:xfrm>
            <a:off x="4023360" y="3127248"/>
            <a:ext cx="100584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5" name="Text 53"/>
          <p:cNvSpPr/>
          <p:nvPr/>
        </p:nvSpPr>
        <p:spPr>
          <a:xfrm>
            <a:off x="4023360" y="30632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100%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3378708"/>
            <a:ext cx="4937760" cy="30175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57" name="Shape 55"/>
          <p:cNvSpPr/>
          <p:nvPr/>
        </p:nvSpPr>
        <p:spPr>
          <a:xfrm>
            <a:off x="320040" y="3378708"/>
            <a:ext cx="36576" cy="301752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8" name="Text 56"/>
          <p:cNvSpPr/>
          <p:nvPr/>
        </p:nvSpPr>
        <p:spPr>
          <a:xfrm>
            <a:off x="411480" y="34244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validations/boardValidation.js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834640" y="34701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3470148"/>
            <a:ext cx="1005840" cy="12801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61" name="Text 59"/>
          <p:cNvSpPr/>
          <p:nvPr/>
        </p:nvSpPr>
        <p:spPr>
          <a:xfrm>
            <a:off x="2834640" y="34061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4FFF"/>
                </a:solidFill>
              </a:rPr>
              <a:t>100%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023360" y="34701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63" name="Shape 61"/>
          <p:cNvSpPr/>
          <p:nvPr/>
        </p:nvSpPr>
        <p:spPr>
          <a:xfrm>
            <a:off x="4023360" y="3470148"/>
            <a:ext cx="100584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4" name="Text 62"/>
          <p:cNvSpPr/>
          <p:nvPr/>
        </p:nvSpPr>
        <p:spPr>
          <a:xfrm>
            <a:off x="4023360" y="34061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100%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20040" y="3721608"/>
            <a:ext cx="4937760" cy="3017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6" name="Shape 64"/>
          <p:cNvSpPr/>
          <p:nvPr/>
        </p:nvSpPr>
        <p:spPr>
          <a:xfrm>
            <a:off x="320040" y="3721608"/>
            <a:ext cx="36576" cy="3017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7" name="Text 65"/>
          <p:cNvSpPr/>
          <p:nvPr/>
        </p:nvSpPr>
        <p:spPr>
          <a:xfrm>
            <a:off x="411480" y="37673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validations/columnValidation.js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834640" y="38130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69" name="Shape 67"/>
          <p:cNvSpPr/>
          <p:nvPr/>
        </p:nvSpPr>
        <p:spPr>
          <a:xfrm>
            <a:off x="2834640" y="3813048"/>
            <a:ext cx="1005840" cy="12801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0" name="Text 68"/>
          <p:cNvSpPr/>
          <p:nvPr/>
        </p:nvSpPr>
        <p:spPr>
          <a:xfrm>
            <a:off x="2834640" y="37490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100%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023360" y="38130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72" name="Shape 70"/>
          <p:cNvSpPr/>
          <p:nvPr/>
        </p:nvSpPr>
        <p:spPr>
          <a:xfrm>
            <a:off x="4023360" y="3813048"/>
            <a:ext cx="100584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3" name="Text 71"/>
          <p:cNvSpPr/>
          <p:nvPr/>
        </p:nvSpPr>
        <p:spPr>
          <a:xfrm>
            <a:off x="4023360" y="37490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100%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20040" y="4064508"/>
            <a:ext cx="4937760" cy="30175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75" name="Shape 73"/>
          <p:cNvSpPr/>
          <p:nvPr/>
        </p:nvSpPr>
        <p:spPr>
          <a:xfrm>
            <a:off x="320040" y="4064508"/>
            <a:ext cx="36576" cy="301752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76" name="Text 74"/>
          <p:cNvSpPr/>
          <p:nvPr/>
        </p:nvSpPr>
        <p:spPr>
          <a:xfrm>
            <a:off x="411480" y="41102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validations/cardValidation.js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834640" y="41559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78" name="Shape 76"/>
          <p:cNvSpPr/>
          <p:nvPr/>
        </p:nvSpPr>
        <p:spPr>
          <a:xfrm>
            <a:off x="2834640" y="4155948"/>
            <a:ext cx="1005840" cy="12801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79" name="Text 77"/>
          <p:cNvSpPr/>
          <p:nvPr/>
        </p:nvSpPr>
        <p:spPr>
          <a:xfrm>
            <a:off x="2834640" y="40919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9D"/>
                </a:solidFill>
              </a:rPr>
              <a:t>100%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023360" y="4155948"/>
            <a:ext cx="1005840" cy="12801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81" name="Shape 79"/>
          <p:cNvSpPr/>
          <p:nvPr/>
        </p:nvSpPr>
        <p:spPr>
          <a:xfrm>
            <a:off x="4023360" y="4155948"/>
            <a:ext cx="1005840" cy="12801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2" name="Text 80"/>
          <p:cNvSpPr/>
          <p:nvPr/>
        </p:nvSpPr>
        <p:spPr>
          <a:xfrm>
            <a:off x="4023360" y="409194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700"/>
                </a:solidFill>
              </a:rPr>
              <a:t>100%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20040" y="4434840"/>
            <a:ext cx="4937760" cy="2743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84" name="Text 82"/>
          <p:cNvSpPr/>
          <p:nvPr/>
        </p:nvSpPr>
        <p:spPr>
          <a:xfrm>
            <a:off x="411480" y="44622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TỔNG (8 file white-box)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2834640" y="4462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100%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023360" y="44622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100%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577840" y="868680"/>
            <a:ext cx="3291840" cy="39319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5669280" y="9144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Độ phức tạp vòng V(G)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5623560" y="1353312"/>
            <a:ext cx="3154680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0" name="Text 88"/>
          <p:cNvSpPr/>
          <p:nvPr/>
        </p:nvSpPr>
        <p:spPr>
          <a:xfrm>
            <a:off x="5669280" y="13807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0"/>
                </a:solidFill>
              </a:rPr>
              <a:t>authMiddleware.isAuthorized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772400" y="138074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V(G)=3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8339328" y="13807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A"/>
                </a:solidFill>
              </a:rPr>
              <a:t>TB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5623560" y="1773936"/>
            <a:ext cx="3154680" cy="3657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94" name="Text 92"/>
          <p:cNvSpPr/>
          <p:nvPr/>
        </p:nvSpPr>
        <p:spPr>
          <a:xfrm>
            <a:off x="5669280" y="18013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0"/>
                </a:solidFill>
              </a:rPr>
              <a:t>userService.login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772400" y="180136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V(G)=4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8339328" y="18013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A"/>
                </a:solidFill>
              </a:rPr>
              <a:t>TB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5623560" y="2194560"/>
            <a:ext cx="3154680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8" name="Text 96"/>
          <p:cNvSpPr/>
          <p:nvPr/>
        </p:nvSpPr>
        <p:spPr>
          <a:xfrm>
            <a:off x="5669280" y="2221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0"/>
                </a:solidFill>
              </a:rPr>
              <a:t>userService.update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7772400" y="222199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V(G)=6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8339328" y="22219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A"/>
                </a:solidFill>
              </a:rPr>
              <a:t>Cao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5623560" y="2615184"/>
            <a:ext cx="3154680" cy="3657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02" name="Text 100"/>
          <p:cNvSpPr/>
          <p:nvPr/>
        </p:nvSpPr>
        <p:spPr>
          <a:xfrm>
            <a:off x="5669280" y="26426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0"/>
                </a:solidFill>
              </a:rPr>
              <a:t>invitationService.updateBoardInvitation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772400" y="264261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V(G)=5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8339328" y="26426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A"/>
                </a:solidFill>
              </a:rPr>
              <a:t>Cao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5623560" y="3035808"/>
            <a:ext cx="3154680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6" name="Text 104"/>
          <p:cNvSpPr/>
          <p:nvPr/>
        </p:nvSpPr>
        <p:spPr>
          <a:xfrm>
            <a:off x="5669280" y="30632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0"/>
                </a:solidFill>
              </a:rPr>
              <a:t>cardService.update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772400" y="306324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V(G)=4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8339328" y="30632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A"/>
                </a:solidFill>
              </a:rPr>
              <a:t>TB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5623560" y="3456432"/>
            <a:ext cx="3154680" cy="3657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10" name="Text 108"/>
          <p:cNvSpPr/>
          <p:nvPr/>
        </p:nvSpPr>
        <p:spPr>
          <a:xfrm>
            <a:off x="5669280" y="34838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0"/>
                </a:solidFill>
              </a:rPr>
              <a:t>boardService.getDetails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772400" y="3483864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V(G)=2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8339328" y="34838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A"/>
                </a:solidFill>
              </a:rPr>
              <a:t>Thấp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5623560" y="3877056"/>
            <a:ext cx="3154680" cy="36576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4" name="Text 112"/>
          <p:cNvSpPr/>
          <p:nvPr/>
        </p:nvSpPr>
        <p:spPr>
          <a:xfrm>
            <a:off x="5669280" y="39044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0"/>
                </a:solidFill>
              </a:rPr>
              <a:t>cardUtils.moveCard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7772400" y="390448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F9D"/>
                </a:solidFill>
              </a:rPr>
              <a:t>V(G)=4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8339328" y="390448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A"/>
                </a:solidFill>
              </a:rPr>
              <a:t>TB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5623560" y="4297680"/>
            <a:ext cx="3154680" cy="36576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18" name="Text 116"/>
          <p:cNvSpPr/>
          <p:nvPr/>
        </p:nvSpPr>
        <p:spPr>
          <a:xfrm>
            <a:off x="5669280" y="43251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0"/>
                </a:solidFill>
              </a:rPr>
              <a:t>70 Unit Tests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7772400" y="4325112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4FFF"/>
                </a:solidFill>
              </a:rPr>
              <a:t>TC-WB-*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8339328" y="43251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A9A"/>
                </a:solidFill>
              </a:rPr>
              <a:t>Hộp trắng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KIỂM THỬ TỰ ĐỘNG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Mô hình Kim Tự Tháp Kiểm Thử (Test Pyramid)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00" cy="37490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4572000" cy="54864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A"/>
                </a:solidFill>
              </a:rPr>
              <a:t>[ HÌNH ẢNH MINH HOẠ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4FFF"/>
                </a:solidFill>
              </a:rPr>
              <a:t>Test Pyramid Diagram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00200" y="1828800"/>
            <a:ext cx="1828800" cy="621792"/>
          </a:xfrm>
          <a:prstGeom prst="rect">
            <a:avLst/>
          </a:prstGeom>
          <a:solidFill>
            <a:srgbClr val="B44FFF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00200" y="1828800"/>
            <a:ext cx="1828800" cy="3657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1920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4FFF"/>
                </a:solidFill>
              </a:rPr>
              <a:t>E2E Selenium  </a:t>
            </a:r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13 tests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606040"/>
            <a:ext cx="3200400" cy="621792"/>
          </a:xfrm>
          <a:prstGeom prst="rect">
            <a:avLst/>
          </a:prstGeom>
          <a:solidFill>
            <a:srgbClr val="00D4FF">
              <a:alpha val="2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606040"/>
            <a:ext cx="32004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6974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Integration API + RTL Component  </a:t>
            </a:r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83+31 tests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572000" cy="621792"/>
          </a:xfrm>
          <a:prstGeom prst="rect">
            <a:avLst/>
          </a:prstGeom>
          <a:solidFill>
            <a:srgbClr val="00FF9D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83280"/>
            <a:ext cx="4572000" cy="3657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7472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9D"/>
                </a:solidFill>
              </a:rPr>
              <a:t>Unit: utils, middleware, Joi, Fuzz  </a:t>
            </a:r>
            <a:pPr algn="ctr" indent="0" marL="0">
              <a:buNone/>
            </a:pPr>
            <a:r>
              <a:rPr lang="en-US" sz="1100" dirty="0">
                <a:solidFill>
                  <a:srgbClr val="C8D0E0"/>
                </a:solidFill>
              </a:rPr>
              <a:t>100% coverage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1005840"/>
            <a:ext cx="3566160" cy="37490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1005840"/>
            <a:ext cx="356616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1078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Công Cụ &amp; Môi Trường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49240" y="1481328"/>
            <a:ext cx="34290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1508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9D"/>
                </a:solidFill>
              </a:rPr>
              <a:t>Jest  </a:t>
            </a:r>
            <a:pPr indent="0" marL="0">
              <a:buNone/>
            </a:pPr>
            <a:r>
              <a:rPr lang="en-US" sz="950" dirty="0">
                <a:solidFill>
                  <a:srgbClr val="6B7A9A"/>
                </a:solidFill>
              </a:rPr>
              <a:t>Test runner + coverage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49240" y="1883664"/>
            <a:ext cx="3429000" cy="34747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19110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Supertest  </a:t>
            </a:r>
            <a:pPr indent="0" marL="0">
              <a:buNone/>
            </a:pPr>
            <a:r>
              <a:rPr lang="en-US" sz="950" dirty="0">
                <a:solidFill>
                  <a:srgbClr val="6B7A9A"/>
                </a:solidFill>
              </a:rPr>
              <a:t>HTTP black-box API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9240" y="2286000"/>
            <a:ext cx="34290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23134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9D"/>
                </a:solidFill>
              </a:rPr>
              <a:t>mongodb-memory-server  </a:t>
            </a:r>
            <a:pPr indent="0" marL="0">
              <a:buNone/>
            </a:pPr>
            <a:r>
              <a:rPr lang="en-US" sz="950" dirty="0">
                <a:solidFill>
                  <a:srgbClr val="6B7A9A"/>
                </a:solidFill>
              </a:rPr>
              <a:t>DB in-memory sạch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49240" y="2688336"/>
            <a:ext cx="3429000" cy="34747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0" y="2715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babel-jest  </a:t>
            </a:r>
            <a:pPr indent="0" marL="0">
              <a:buNone/>
            </a:pPr>
            <a:r>
              <a:rPr lang="en-US" sz="950" dirty="0">
                <a:solidFill>
                  <a:srgbClr val="6B7A9A"/>
                </a:solidFill>
              </a:rPr>
              <a:t>Biên dịch ES module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49240" y="3090672"/>
            <a:ext cx="34290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5394960" y="31181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4FFF"/>
                </a:solidFill>
              </a:rPr>
              <a:t>React Testing Library  </a:t>
            </a:r>
            <a:pPr indent="0" marL="0">
              <a:buNone/>
            </a:pPr>
            <a:r>
              <a:rPr lang="en-US" sz="950" dirty="0">
                <a:solidFill>
                  <a:srgbClr val="6B7A9A"/>
                </a:solidFill>
              </a:rPr>
              <a:t>Component + DOM sim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49240" y="3493008"/>
            <a:ext cx="3429000" cy="34747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3" name="Text 31"/>
          <p:cNvSpPr/>
          <p:nvPr/>
        </p:nvSpPr>
        <p:spPr>
          <a:xfrm>
            <a:off x="5394960" y="3520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4FFF"/>
                </a:solidFill>
              </a:rPr>
              <a:t>@testing-library/user-event  </a:t>
            </a:r>
            <a:pPr indent="0" marL="0">
              <a:buNone/>
            </a:pPr>
            <a:r>
              <a:rPr lang="en-US" sz="950" dirty="0">
                <a:solidFill>
                  <a:srgbClr val="6B7A9A"/>
                </a:solidFill>
              </a:rPr>
              <a:t>Mô phỏng nhập liệu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49240" y="3895344"/>
            <a:ext cx="34290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0" y="39227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</a:rPr>
              <a:t>Selenium WebDriver 4  </a:t>
            </a:r>
            <a:pPr indent="0" marL="0">
              <a:buNone/>
            </a:pPr>
            <a:r>
              <a:rPr lang="en-US" sz="950" dirty="0">
                <a:solidFill>
                  <a:srgbClr val="6B7A9A"/>
                </a:solidFill>
              </a:rPr>
              <a:t>Chrome headless E2E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49240" y="4297680"/>
            <a:ext cx="3429000" cy="34747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4325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A9A"/>
                </a:solidFill>
              </a:rPr>
              <a:t>ESLint  </a:t>
            </a:r>
            <a:pPr indent="0" marL="0">
              <a:buNone/>
            </a:pPr>
            <a:r>
              <a:rPr lang="en-US" sz="950" dirty="0">
                <a:solidFill>
                  <a:srgbClr val="6B7A9A"/>
                </a:solidFill>
              </a:rPr>
              <a:t>Phân tích tĩnh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FUZZ TESTING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Property-based testing bằng fast-check — 300–1000 numRuns/property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920240" cy="9144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920240" cy="457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F9D"/>
                </a:solidFill>
              </a:rPr>
              <a:t>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Properties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960120"/>
            <a:ext cx="1920240" cy="9144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960120"/>
            <a:ext cx="192024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</a:rPr>
              <a:t>4800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377440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Total Runs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960120"/>
            <a:ext cx="1920240" cy="9144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960120"/>
            <a:ext cx="192024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700"/>
                </a:solidFill>
              </a:rPr>
              <a:t>9/9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80560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PASS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965960"/>
            <a:ext cx="502920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19933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Property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1993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359152"/>
            <a:ext cx="5029200" cy="27432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359152"/>
            <a:ext cx="36576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395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TC-FUZZ-01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2395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validateEmail contract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97680" y="23957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1000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3957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670048"/>
            <a:ext cx="5029200" cy="2743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2670048"/>
            <a:ext cx="36576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7066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TC-FUZZ-02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27066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validatePassword contract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1000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7066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980944"/>
            <a:ext cx="5029200" cy="27432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2980944"/>
            <a:ext cx="36576" cy="2743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0175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TC-FUZZ-03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463040" y="3017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validateBoardTitle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0" y="3017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1000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3017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3291840"/>
            <a:ext cx="5029200" cy="2743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3291840"/>
            <a:ext cx="36576" cy="2743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33284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TC-FUZZ-04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463040" y="33284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moveCard logic (cardUtils)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97680" y="3328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300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83480" y="33284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3602736"/>
            <a:ext cx="5029200" cy="27432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47" name="Shape 45"/>
          <p:cNvSpPr/>
          <p:nvPr/>
        </p:nvSpPr>
        <p:spPr>
          <a:xfrm>
            <a:off x="274320" y="3602736"/>
            <a:ext cx="36576" cy="27432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36393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4FFF"/>
                </a:solidFill>
              </a:rPr>
              <a:t>TC-FUZZ-05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463040" y="3639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userValidation.createNew (Joi)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97680" y="36393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300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83480" y="3639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3913632"/>
            <a:ext cx="5029200" cy="2743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3" name="Shape 51"/>
          <p:cNvSpPr/>
          <p:nvPr/>
        </p:nvSpPr>
        <p:spPr>
          <a:xfrm>
            <a:off x="274320" y="3913632"/>
            <a:ext cx="36576" cy="27432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39502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4FFF"/>
                </a:solidFill>
              </a:rPr>
              <a:t>TC-FUZZ-06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463040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userValidation.update (Joi)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97680" y="3950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300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83480" y="3950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✓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74320" y="4224528"/>
            <a:ext cx="5029200" cy="27432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59" name="Shape 57"/>
          <p:cNvSpPr/>
          <p:nvPr/>
        </p:nvSpPr>
        <p:spPr>
          <a:xfrm>
            <a:off x="274320" y="4224528"/>
            <a:ext cx="36576" cy="2743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42611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TC-FUZZ-07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463040" y="4261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boardValidation.createNew (Joi)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297680" y="42611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300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83480" y="42611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74320" y="4535424"/>
            <a:ext cx="5029200" cy="2743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5" name="Shape 63"/>
          <p:cNvSpPr/>
          <p:nvPr/>
        </p:nvSpPr>
        <p:spPr>
          <a:xfrm>
            <a:off x="274320" y="4535424"/>
            <a:ext cx="36576" cy="2743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45720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TC-FUZZ-08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463040" y="4572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boardValidation.update (Joi)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297680" y="45720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300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983480" y="45720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✓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274320" y="4846320"/>
            <a:ext cx="5029200" cy="27432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71" name="Shape 69"/>
          <p:cNvSpPr/>
          <p:nvPr/>
        </p:nvSpPr>
        <p:spPr>
          <a:xfrm>
            <a:off x="274320" y="4846320"/>
            <a:ext cx="36576" cy="2743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72" name="Text 70"/>
          <p:cNvSpPr/>
          <p:nvPr/>
        </p:nvSpPr>
        <p:spPr>
          <a:xfrm>
            <a:off x="365760" y="48828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TC-FUZZ-09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463040" y="4882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boardValidation.moveCard (Joi)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297680" y="48828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9D"/>
                </a:solidFill>
              </a:rPr>
              <a:t>300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983480" y="48828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D"/>
                </a:solidFill>
              </a:rPr>
              <a:t>✓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577840" y="960120"/>
            <a:ext cx="3291840" cy="379476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577840" y="960120"/>
            <a:ext cx="329184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8" name="Text 76"/>
          <p:cNvSpPr/>
          <p:nvPr/>
        </p:nvSpPr>
        <p:spPr>
          <a:xfrm>
            <a:off x="5669280" y="1033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Fuzz vs Coverage</a:t>
            </a:r>
            <a:endParaRPr lang="en-US" sz="1300" dirty="0"/>
          </a:p>
        </p:txBody>
      </p:sp>
      <p:pic>
        <p:nvPicPr>
          <p:cNvPr id="7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005840"/>
            <a:ext cx="365760" cy="365760"/>
          </a:xfrm>
          <a:prstGeom prst="rect">
            <a:avLst/>
          </a:prstGeom>
        </p:spPr>
      </p:pic>
      <p:sp>
        <p:nvSpPr>
          <p:cNvPr id="80" name="Shape 77"/>
          <p:cNvSpPr/>
          <p:nvPr/>
        </p:nvSpPr>
        <p:spPr>
          <a:xfrm>
            <a:off x="5623560" y="1463040"/>
            <a:ext cx="3200400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1" name="Text 78"/>
          <p:cNvSpPr/>
          <p:nvPr/>
        </p:nvSpPr>
        <p:spPr>
          <a:xfrm>
            <a:off x="5669280" y="14904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Fuzz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566928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Khám phá không gian đầu vào ngẫu nhiên với giả thiết mã đúng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5623560" y="2103120"/>
            <a:ext cx="3200400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4" name="Text 81"/>
          <p:cNvSpPr/>
          <p:nvPr/>
        </p:nvSpPr>
        <p:spPr>
          <a:xfrm>
            <a:off x="5669280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Mutation</a:t>
            </a:r>
            <a:endParaRPr lang="en-US" sz="1000" dirty="0"/>
          </a:p>
        </p:txBody>
      </p:sp>
      <p:sp>
        <p:nvSpPr>
          <p:cNvPr id="85" name="Text 82"/>
          <p:cNvSpPr/>
          <p:nvPr/>
        </p:nvSpPr>
        <p:spPr>
          <a:xfrm>
            <a:off x="5669280" y="2377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Khám phá không gian lỗi cài vào mã với giả thiết input cố định</a:t>
            </a:r>
            <a:endParaRPr lang="en-US" sz="950" dirty="0"/>
          </a:p>
        </p:txBody>
      </p:sp>
      <p:sp>
        <p:nvSpPr>
          <p:cNvPr id="86" name="Shape 83"/>
          <p:cNvSpPr/>
          <p:nvPr/>
        </p:nvSpPr>
        <p:spPr>
          <a:xfrm>
            <a:off x="5623560" y="2743200"/>
            <a:ext cx="3200400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7" name="Text 84"/>
          <p:cNvSpPr/>
          <p:nvPr/>
        </p:nvSpPr>
        <p:spPr>
          <a:xfrm>
            <a:off x="5669280" y="27706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Coverage</a:t>
            </a:r>
            <a:endParaRPr lang="en-US" sz="1000" dirty="0"/>
          </a:p>
        </p:txBody>
      </p:sp>
      <p:sp>
        <p:nvSpPr>
          <p:cNvPr id="88" name="Text 85"/>
          <p:cNvSpPr/>
          <p:nvPr/>
        </p:nvSpPr>
        <p:spPr>
          <a:xfrm>
            <a:off x="5669280" y="30175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Đo lường dòng/nhánh đã chạy qua — không chứng minh test chặt</a:t>
            </a:r>
            <a:endParaRPr lang="en-US" sz="950" dirty="0"/>
          </a:p>
        </p:txBody>
      </p:sp>
      <p:sp>
        <p:nvSpPr>
          <p:cNvPr id="89" name="Shape 86"/>
          <p:cNvSpPr/>
          <p:nvPr/>
        </p:nvSpPr>
        <p:spPr>
          <a:xfrm>
            <a:off x="5623560" y="3383280"/>
            <a:ext cx="3200400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0" name="Text 87"/>
          <p:cNvSpPr/>
          <p:nvPr/>
        </p:nvSpPr>
        <p:spPr>
          <a:xfrm>
            <a:off x="5669280" y="3410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Kết quả</a:t>
            </a:r>
            <a:endParaRPr lang="en-US" sz="1000" dirty="0"/>
          </a:p>
        </p:txBody>
      </p:sp>
      <p:sp>
        <p:nvSpPr>
          <p:cNvPr id="91" name="Text 88"/>
          <p:cNvSpPr/>
          <p:nvPr/>
        </p:nvSpPr>
        <p:spPr>
          <a:xfrm>
            <a:off x="5669280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Fuzz PASS = hàm không crash/throw ngoài hợp đồng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5623560" y="4023360"/>
            <a:ext cx="3200400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3" name="Text 90"/>
          <p:cNvSpPr/>
          <p:nvPr/>
        </p:nvSpPr>
        <p:spPr>
          <a:xfrm>
            <a:off x="5669280" y="4050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</a:rPr>
              <a:t>Lưu ý</a:t>
            </a:r>
            <a:endParaRPr lang="en-US" sz="1000" dirty="0"/>
          </a:p>
        </p:txBody>
      </p:sp>
      <p:sp>
        <p:nvSpPr>
          <p:cNvPr id="94" name="Text 91"/>
          <p:cNvSpPr/>
          <p:nvPr/>
        </p:nvSpPr>
        <p:spPr>
          <a:xfrm>
            <a:off x="5669280" y="4297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0E0"/>
                </a:solidFill>
              </a:rPr>
              <a:t>Fuzz không thay thế integration hay E2E — bổ trợ unit test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MUTATION TESTING (STRYKER)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22960"/>
            <a:ext cx="2286000" cy="18288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286000" cy="5486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9D"/>
                </a:solidFill>
              </a:rPr>
              <a:t>97.92%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Mutation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Vượt ngưỡng 80%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822960"/>
            <a:ext cx="1371600" cy="109728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34640" y="822960"/>
            <a:ext cx="1371600" cy="457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89611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FF9D"/>
                </a:solidFill>
              </a:rPr>
              <a:t>94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834640" y="1508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Killed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822960"/>
            <a:ext cx="1371600" cy="109728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822960"/>
            <a:ext cx="13716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89611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700"/>
                </a:solidFill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343400" y="1508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Survived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822960"/>
            <a:ext cx="1371600" cy="109728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822960"/>
            <a:ext cx="1371600" cy="45720"/>
          </a:xfrm>
          <a:prstGeom prst="rect">
            <a:avLst/>
          </a:prstGeom>
          <a:solidFill>
            <a:srgbClr val="6B7A9A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89611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A9A"/>
                </a:solidFill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852160" y="1508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Timeout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60920" y="822960"/>
            <a:ext cx="1371600" cy="109728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60920" y="822960"/>
            <a:ext cx="13716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7360920" y="89611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FF"/>
                </a:solidFill>
              </a:rPr>
              <a:t>96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360920" y="15087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Total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2770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277063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Chi tiết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136392"/>
            <a:ext cx="8595360" cy="420624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3136392"/>
            <a:ext cx="36576" cy="42062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227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0E0"/>
                </a:solidFill>
              </a:rPr>
              <a:t>authUtils.js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0" y="3227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96.30%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32278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A"/>
                </a:solidFill>
              </a:rPr>
              <a:t>52 killed / 2 survived / 54 total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611880"/>
            <a:ext cx="8595360" cy="420624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3611880"/>
            <a:ext cx="36576" cy="42062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703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0E0"/>
                </a:solidFill>
              </a:rPr>
              <a:t>boardUtils.js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86000" y="3703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9D"/>
                </a:solidFill>
              </a:rPr>
              <a:t>100%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74720" y="37033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A"/>
                </a:solidFill>
              </a:rPr>
              <a:t>27 killed / 0 survived / 27 total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087368"/>
            <a:ext cx="8595360" cy="420624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087368"/>
            <a:ext cx="36576" cy="42062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4178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0E0"/>
                </a:solidFill>
              </a:rPr>
              <a:t>cardUtils.js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286000" y="4178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9D"/>
                </a:solidFill>
              </a:rPr>
              <a:t>100%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74720" y="41788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9A"/>
                </a:solidFill>
              </a:rPr>
              <a:t>15 killed / 0 survived / 15 total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4617720"/>
            <a:ext cx="859536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FF9D"/>
                </a:solidFill>
              </a:rPr>
              <a:t>[ HÌNH ẢNH: Screenshot Stryker Mutation Report (Hình 6.1) 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SECURITY TEST — OWASP ZAP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498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Passive scan: chỉ quan sát traffic HTTP, không tấn công chủ động — đối chiếu OWASP Top 10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8288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1554480" cy="7772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097280"/>
            <a:ext cx="155448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FF"/>
                </a:solidFill>
              </a:rPr>
              <a:t>7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7432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A"/>
                </a:solidFill>
              </a:rPr>
              <a:t>TC-SEC-PASSIVE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965960" y="1097280"/>
            <a:ext cx="1554480" cy="7772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65960" y="1097280"/>
            <a:ext cx="1554480" cy="4572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965960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4FF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96596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A"/>
                </a:solidFill>
              </a:rPr>
              <a:t>Nhóm OWASP liên quan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57600" y="1097280"/>
            <a:ext cx="1554480" cy="77724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0" y="1097280"/>
            <a:ext cx="1554480" cy="457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0" y="11704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9D"/>
                </a:solidFill>
              </a:rPr>
              <a:t>Passive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657600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A9A"/>
                </a:solidFill>
              </a:rPr>
              <a:t>Chế độ quét ZAP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320" y="1965960"/>
            <a:ext cx="5029200" cy="329184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" y="1993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TC-ID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600200" y="1993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Mô tả / Kết quả mong đợi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206240" y="1993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OWASP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2295144"/>
            <a:ext cx="5029200" cy="34747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4" name="Shape 21"/>
          <p:cNvSpPr/>
          <p:nvPr/>
        </p:nvSpPr>
        <p:spPr>
          <a:xfrm>
            <a:off x="274320" y="229514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22951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TC-SEC-PASSIVE-01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600200" y="22951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GET /v1/status → 200, Content-Type: application/json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206240" y="22951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A05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" y="2660904"/>
            <a:ext cx="50292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Shape 26"/>
          <p:cNvSpPr/>
          <p:nvPr/>
        </p:nvSpPr>
        <p:spPr>
          <a:xfrm>
            <a:off x="274320" y="266090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26609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TC-SEC-PASSIVE-02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600200" y="26609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GET route không tồn tại → 404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206240" y="26609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A05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74320" y="3026664"/>
            <a:ext cx="5029200" cy="34747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34" name="Shape 31"/>
          <p:cNvSpPr/>
          <p:nvPr/>
        </p:nvSpPr>
        <p:spPr>
          <a:xfrm>
            <a:off x="274320" y="302666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2"/>
          <p:cNvSpPr/>
          <p:nvPr/>
        </p:nvSpPr>
        <p:spPr>
          <a:xfrm>
            <a:off x="365760" y="30266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TC-SEC-PASSIVE-03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1600200" y="302666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Response không chứa header X-Powered-By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206240" y="30266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A05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74320" y="3392424"/>
            <a:ext cx="50292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9" name="Shape 36"/>
          <p:cNvSpPr/>
          <p:nvPr/>
        </p:nvSpPr>
        <p:spPr>
          <a:xfrm>
            <a:off x="274320" y="339242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0" name="Text 37"/>
          <p:cNvSpPr/>
          <p:nvPr/>
        </p:nvSpPr>
        <p:spPr>
          <a:xfrm>
            <a:off x="365760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TC-SEC-PASSIVE-04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600200" y="33924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Response nhạy cảm có header Cache-Control: no-store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4206240" y="33924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A05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74320" y="3758184"/>
            <a:ext cx="5029200" cy="34747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44" name="Shape 41"/>
          <p:cNvSpPr/>
          <p:nvPr/>
        </p:nvSpPr>
        <p:spPr>
          <a:xfrm>
            <a:off x="274320" y="3758184"/>
            <a:ext cx="36576" cy="347472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45" name="Text 42"/>
          <p:cNvSpPr/>
          <p:nvPr/>
        </p:nvSpPr>
        <p:spPr>
          <a:xfrm>
            <a:off x="365760" y="37581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4FFF"/>
                </a:solidFill>
              </a:rPr>
              <a:t>TC-SEC-PASSIVE-05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1600200" y="375818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Set-Cookie sau login chứa cờ HttpOnly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206240" y="375818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4FFF"/>
                </a:solidFill>
              </a:rPr>
              <a:t>A07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274320" y="4123944"/>
            <a:ext cx="5029200" cy="34747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9" name="Shape 46"/>
          <p:cNvSpPr/>
          <p:nvPr/>
        </p:nvSpPr>
        <p:spPr>
          <a:xfrm>
            <a:off x="274320" y="4123944"/>
            <a:ext cx="36576" cy="34747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0" name="Text 47"/>
          <p:cNvSpPr/>
          <p:nvPr/>
        </p:nvSpPr>
        <p:spPr>
          <a:xfrm>
            <a:off x="365760" y="41239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700"/>
                </a:solidFill>
              </a:rPr>
              <a:t>TC-SEC-PASSIVE-06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1600200" y="41239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Body register/login không chứa password hoặc hash bcrypt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4206240" y="41239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700"/>
                </a:solidFill>
              </a:rPr>
              <a:t>A02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74320" y="4489704"/>
            <a:ext cx="5029200" cy="347472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54" name="Shape 51"/>
          <p:cNvSpPr/>
          <p:nvPr/>
        </p:nvSpPr>
        <p:spPr>
          <a:xfrm>
            <a:off x="274320" y="448970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5" name="Text 52"/>
          <p:cNvSpPr/>
          <p:nvPr/>
        </p:nvSpPr>
        <p:spPr>
          <a:xfrm>
            <a:off x="365760" y="44897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TC-SEC-PASSIVE-07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1600200" y="44897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0"/>
                </a:solidFill>
              </a:rPr>
              <a:t>GET /v1/boards không auth → 401 JSON có statusCode, message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4206240" y="44897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A05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577840" y="960120"/>
            <a:ext cx="3291840" cy="379476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5577840" y="960120"/>
            <a:ext cx="3291840" cy="5486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60" name="Text 57"/>
          <p:cNvSpPr/>
          <p:nvPr/>
        </p:nvSpPr>
        <p:spPr>
          <a:xfrm>
            <a:off x="5669280" y="10332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D"/>
                </a:solidFill>
              </a:rPr>
              <a:t>Lỗ Hổng Mục Tiêu &amp; Biện Pháp</a:t>
            </a:r>
            <a:endParaRPr lang="en-US" sz="1300" dirty="0"/>
          </a:p>
        </p:txBody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005840"/>
            <a:ext cx="365760" cy="365760"/>
          </a:xfrm>
          <a:prstGeom prst="rect">
            <a:avLst/>
          </a:prstGeom>
        </p:spPr>
      </p:pic>
      <p:sp>
        <p:nvSpPr>
          <p:cNvPr id="62" name="Shape 58"/>
          <p:cNvSpPr/>
          <p:nvPr/>
        </p:nvSpPr>
        <p:spPr>
          <a:xfrm>
            <a:off x="5623560" y="1463040"/>
            <a:ext cx="3200400" cy="7680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3" name="Shape 59"/>
          <p:cNvSpPr/>
          <p:nvPr/>
        </p:nvSpPr>
        <p:spPr>
          <a:xfrm>
            <a:off x="5623560" y="1463040"/>
            <a:ext cx="45720" cy="76809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64" name="Text 60"/>
          <p:cNvSpPr/>
          <p:nvPr/>
        </p:nvSpPr>
        <p:spPr>
          <a:xfrm>
            <a:off x="5715000" y="151790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F9D"/>
                </a:solidFill>
              </a:rPr>
              <a:t>SQL / NoSQL Injection</a:t>
            </a:r>
            <a:endParaRPr lang="en-US" sz="1050" dirty="0"/>
          </a:p>
        </p:txBody>
      </p:sp>
      <p:sp>
        <p:nvSpPr>
          <p:cNvPr id="65" name="Text 61"/>
          <p:cNvSpPr/>
          <p:nvPr/>
        </p:nvSpPr>
        <p:spPr>
          <a:xfrm>
            <a:off x="5715000" y="175564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</a:rPr>
              <a:t>Joi validation mọi endpoint + fuzz TC-FUZZ-05→09 + MongoDB driver parameterized — không dùng raw SQL</a:t>
            </a:r>
            <a:endParaRPr lang="en-US" sz="900" dirty="0"/>
          </a:p>
        </p:txBody>
      </p:sp>
      <p:sp>
        <p:nvSpPr>
          <p:cNvPr id="66" name="Shape 62"/>
          <p:cNvSpPr/>
          <p:nvPr/>
        </p:nvSpPr>
        <p:spPr>
          <a:xfrm>
            <a:off x="5623560" y="2304288"/>
            <a:ext cx="3200400" cy="7680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7" name="Shape 63"/>
          <p:cNvSpPr/>
          <p:nvPr/>
        </p:nvSpPr>
        <p:spPr>
          <a:xfrm>
            <a:off x="5623560" y="2304288"/>
            <a:ext cx="45720" cy="76809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8" name="Text 64"/>
          <p:cNvSpPr/>
          <p:nvPr/>
        </p:nvSpPr>
        <p:spPr>
          <a:xfrm>
            <a:off x="5715000" y="235915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FF"/>
                </a:solidFill>
              </a:rPr>
              <a:t>XSS</a:t>
            </a:r>
            <a:endParaRPr lang="en-US" sz="1050" dirty="0"/>
          </a:p>
        </p:txBody>
      </p:sp>
      <p:sp>
        <p:nvSpPr>
          <p:cNvPr id="69" name="Text 65"/>
          <p:cNvSpPr/>
          <p:nvPr/>
        </p:nvSpPr>
        <p:spPr>
          <a:xfrm>
            <a:off x="5715000" y="259689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</a:rPr>
              <a:t>API trả JSON (không HTML); passive TC-SEC-PASSIVE-07. XSS chủ yếu ở frontend — cần ZAP quét Web</a:t>
            </a:r>
            <a:endParaRPr lang="en-US" sz="900" dirty="0"/>
          </a:p>
        </p:txBody>
      </p:sp>
      <p:sp>
        <p:nvSpPr>
          <p:cNvPr id="70" name="Shape 66"/>
          <p:cNvSpPr/>
          <p:nvPr/>
        </p:nvSpPr>
        <p:spPr>
          <a:xfrm>
            <a:off x="5623560" y="3145536"/>
            <a:ext cx="3200400" cy="7680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1" name="Shape 67"/>
          <p:cNvSpPr/>
          <p:nvPr/>
        </p:nvSpPr>
        <p:spPr>
          <a:xfrm>
            <a:off x="5623560" y="3145536"/>
            <a:ext cx="45720" cy="76809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72" name="Text 68"/>
          <p:cNvSpPr/>
          <p:nvPr/>
        </p:nvSpPr>
        <p:spPr>
          <a:xfrm>
            <a:off x="5715000" y="32004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4FFF"/>
                </a:solidFill>
              </a:rPr>
              <a:t>CSRF</a:t>
            </a:r>
            <a:endParaRPr lang="en-US" sz="1050" dirty="0"/>
          </a:p>
        </p:txBody>
      </p:sp>
      <p:sp>
        <p:nvSpPr>
          <p:cNvPr id="73" name="Text 69"/>
          <p:cNvSpPr/>
          <p:nvPr/>
        </p:nvSpPr>
        <p:spPr>
          <a:xfrm>
            <a:off x="5715000" y="343814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</a:rPr>
              <a:t>Cookie HttpOnly + JWT; CORS cấu hình config/cors. Chưa có test CSRF token riêng — active ZAP có thể bổ sung</a:t>
            </a:r>
            <a:endParaRPr lang="en-US" sz="900" dirty="0"/>
          </a:p>
        </p:txBody>
      </p:sp>
      <p:sp>
        <p:nvSpPr>
          <p:cNvPr id="74" name="Shape 70"/>
          <p:cNvSpPr/>
          <p:nvPr/>
        </p:nvSpPr>
        <p:spPr>
          <a:xfrm>
            <a:off x="5623560" y="3986784"/>
            <a:ext cx="3200400" cy="76809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5" name="Shape 71"/>
          <p:cNvSpPr/>
          <p:nvPr/>
        </p:nvSpPr>
        <p:spPr>
          <a:xfrm>
            <a:off x="5623560" y="3986784"/>
            <a:ext cx="45720" cy="768096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6" name="Text 72"/>
          <p:cNvSpPr/>
          <p:nvPr/>
        </p:nvSpPr>
        <p:spPr>
          <a:xfrm>
            <a:off x="5715000" y="404164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</a:rPr>
              <a:t>A01 Broken Access Control</a:t>
            </a:r>
            <a:endParaRPr lang="en-US" sz="1050" dirty="0"/>
          </a:p>
        </p:txBody>
      </p:sp>
      <p:sp>
        <p:nvSpPr>
          <p:cNvPr id="77" name="Text 73"/>
          <p:cNvSpPr/>
          <p:nvPr/>
        </p:nvSpPr>
        <p:spPr>
          <a:xfrm>
            <a:off x="5715000" y="427939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0E0"/>
                </a:solidFill>
              </a:rPr>
              <a:t>Integration: auth cookie/JWT, invitation khi chưa đăng nhập → 401 — bổ trợ thêm, ngoài suite passive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ĐÁNH GIÁ TỔNG HỢP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9144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743200" cy="457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41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9D"/>
                </a:solidFill>
              </a:rPr>
              <a:t>162/162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API Tests 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9144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2743200" cy="457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941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9D"/>
                </a:solidFill>
              </a:rPr>
              <a:t>31/31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Web Component PASS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743200" cy="9144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868680"/>
            <a:ext cx="27432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9418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FF"/>
                </a:solidFill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Coverage utils/validation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920240"/>
            <a:ext cx="2743200" cy="9144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920240"/>
            <a:ext cx="27432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1993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700"/>
                </a:solidFill>
              </a:rPr>
              <a:t>97.92%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7432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Mutation 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1920240"/>
            <a:ext cx="2743200" cy="9144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920240"/>
            <a:ext cx="2743200" cy="4572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1993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9D"/>
                </a:solidFill>
              </a:rPr>
              <a:t>9/9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20040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Fuzz Properties PASS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1920240"/>
            <a:ext cx="2743200" cy="9144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920240"/>
            <a:ext cx="2743200" cy="4572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993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44FFF"/>
                </a:solidFill>
              </a:rPr>
              <a:t>13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126480" y="2514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E2E Scenarios 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017520"/>
            <a:ext cx="4114800" cy="54864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3090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D"/>
                </a:solidFill>
              </a:rPr>
              <a:t>✓  Ưu Điểm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4930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createApp() + Supertest + MongoDB in-memory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38404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Traceability: TC-BB-*, TC-INT-*, TC-E2E-* trong mã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1879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POM Selenium + data-testid bảo trì được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5354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Mutation 97.92% — unit test chất lượng cao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88289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D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CI sẵn sàng: lint → Jest → fuzz → coverage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017520"/>
            <a:ext cx="4114800" cy="182880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017520"/>
            <a:ext cx="41148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090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⚠  Hạn Chế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46320" y="349300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Selenium flaky khi MUI Zoom animation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38404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RTL mock Redux/API — không bắt lỗi tích hợp thật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41879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Fuzz trên utils + Joi validation — chưa fuzz HTTP body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46320" y="45354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Selenium chưa tích hợp GitHub Actions CI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46320" y="488289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C8D0E0"/>
                </a:solidFill>
              </a:rPr>
              <a:t>Coverage cao ≠ không còn lỗi nghiệp vụ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HƯỚNG PHÁT TRIỂN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1828800" cy="3657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11887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4864" cy="118872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05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CI/CD Integration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" y="14447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Gắn Selenium vào GitHub Actions CI với Chrome headless + docker-compose. Pipeline lint → test → coverage tự động.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914400"/>
            <a:ext cx="4114800" cy="11887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914400"/>
            <a:ext cx="54864" cy="1188720"/>
          </a:xfrm>
          <a:prstGeom prst="rect">
            <a:avLst/>
          </a:prstGeom>
          <a:solidFill>
            <a:srgbClr val="00FF9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0058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005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D"/>
                </a:solidFill>
              </a:rPr>
              <a:t>Contract Test (Pact)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773168" y="14447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Triển khai Pact contract test giữa Trello-web (consumer) và trello-api (provider) — đảm bảo API không breaking change.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" y="2286000"/>
            <a:ext cx="4114800" cy="11887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2286000"/>
            <a:ext cx="54864" cy="1188720"/>
          </a:xfrm>
          <a:prstGeom prst="rect">
            <a:avLst/>
          </a:prstGeom>
          <a:solidFill>
            <a:srgbClr val="B44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3774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377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FFF"/>
                </a:solidFill>
              </a:rPr>
              <a:t>Fuzz API Body (HTTP)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84048" y="28163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Mở rộng fuzz body HTTP register/login kết hợp Supertest + fast-check — kiểm tra robustness ở tầng API.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2286000"/>
            <a:ext cx="4114800" cy="11887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286000"/>
            <a:ext cx="54864" cy="1188720"/>
          </a:xfrm>
          <a:prstGeom prst="rect">
            <a:avLst/>
          </a:prstGeom>
          <a:solidFill>
            <a:srgbClr val="FFD70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3774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2377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Performance Test (k6)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773168" y="28163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Kiểm thử hiệu năng GET /boards với k6 — đo throughput, latency, response time dưới tải cao.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657600"/>
            <a:ext cx="54864" cy="118872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7490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68680" y="3749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Mutation mở rộng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84048" y="41879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Mở rộng mutation testing sang authMiddleware và toàn bộ Joi validation — tăng mutation score coverage diện rộng.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663440" y="3657600"/>
            <a:ext cx="4114800" cy="1188720"/>
          </a:xfrm>
          <a:prstGeom prst="rect">
            <a:avLst/>
          </a:prstGeom>
          <a:solidFill>
            <a:srgbClr val="0F1629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63440" y="3657600"/>
            <a:ext cx="54864" cy="1188720"/>
          </a:xfrm>
          <a:prstGeom prst="rect">
            <a:avLst/>
          </a:prstGeom>
          <a:solidFill>
            <a:srgbClr val="00FF9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74904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7800" y="3749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9D"/>
                </a:solidFill>
              </a:rPr>
              <a:t>Security Test (ZAP)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773168" y="41879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0"/>
                </a:solidFill>
              </a:rPr>
              <a:t>Tích hợp OWASP ZAP để passive + active security scanning — phát hiện CSRF, XSS, SQL injection tiềm ẩn.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09560" y="731520"/>
            <a:ext cx="45720" cy="45720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10058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0D4FF"/>
                </a:solidFill>
              </a:rPr>
              <a:t>CẢM ƠN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C8D0E0"/>
                </a:solidFill>
              </a:rPr>
              <a:t>QUÝ THẦY &amp; CÁC BẠN ĐÃ LẮNG NGHE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0" y="2633472"/>
            <a:ext cx="2743200" cy="3657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9D"/>
                </a:solidFill>
              </a:rPr>
              <a:t>162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152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Tests PASS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97.92%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69748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Mutation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</a:rPr>
              <a:t>100%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66344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Coverage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4FFF"/>
                </a:solidFill>
              </a:rPr>
              <a:t>13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62940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9A"/>
                </a:solidFill>
              </a:rPr>
              <a:t>E2E Runs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639312"/>
            <a:ext cx="2743200" cy="36576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9A"/>
                </a:solidFill>
              </a:rPr>
              <a:t>Đề tài: Kiểm Thử Phần Mềm Trello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A"/>
                </a:solidFill>
              </a:rPr>
              <a:t>ĐH Phenikaa — Trường CNTT — Khoá K17 — Tháng 06/2026</a:t>
            </a:r>
            <a:endParaRPr lang="en-US" sz="11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91440"/>
            <a:ext cx="45720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Kiểm Thử Phần Mềm Trello</dc:title>
  <dc:subject>PptxGenJS Presentation</dc:subject>
  <dc:creator>PptxGenJS</dc:creator>
  <cp:lastModifiedBy>PptxGenJS</cp:lastModifiedBy>
  <cp:revision>1</cp:revision>
  <dcterms:created xsi:type="dcterms:W3CDTF">2026-06-14T13:13:13Z</dcterms:created>
  <dcterms:modified xsi:type="dcterms:W3CDTF">2026-06-14T13:13:13Z</dcterms:modified>
</cp:coreProperties>
</file>